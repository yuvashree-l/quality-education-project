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731520"/>
            <a:ext cx="4297680" cy="4297680"/>
          </a:xfrm>
          <a:prstGeom prst="ellipse">
            <a:avLst/>
          </a:prstGeom>
          <a:solidFill>
            <a:srgbClr val="2C66C4"/>
          </a:solidFill>
          <a:ln>
            <a:solidFill>
              <a:srgbClr val="2C6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35440" y="0"/>
            <a:ext cx="2926080" cy="2926080"/>
          </a:xfrm>
          <a:prstGeom prst="ellipse">
            <a:avLst/>
          </a:prstGeom>
          <a:solidFill>
            <a:srgbClr val="14A6A0"/>
          </a:solidFill>
          <a:ln>
            <a:solidFill>
              <a:srgbClr val="14A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658368"/>
            <a:ext cx="1554480" cy="1554480"/>
          </a:xfrm>
          <a:prstGeom prst="ellipse">
            <a:avLst/>
          </a:prstGeom>
          <a:solidFill>
            <a:srgbClr val="FFBE4D"/>
          </a:solidFill>
          <a:ln>
            <a:solidFill>
              <a:srgbClr val="FFBE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26679" y="2743200"/>
            <a:ext cx="3474720" cy="2240280"/>
          </a:xfrm>
          <a:prstGeom prst="roundRect">
            <a:avLst/>
          </a:prstGeom>
          <a:solidFill>
            <a:srgbClr val="1E3763"/>
          </a:solidFill>
          <a:ln>
            <a:solidFill>
              <a:srgbClr val="1E3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3063240"/>
            <a:ext cx="2834640" cy="4572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LEARN  •  PRACTISE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3657600"/>
            <a:ext cx="2834640" cy="7315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2000" b="1">
                <a:solidFill>
                  <a:srgbClr val="FFBE4D"/>
                </a:solidFill>
                <a:latin typeface="Aptos"/>
              </a:defRPr>
            </a:pPr>
            <a:r>
              <a:t>GROW WITH</a:t>
            </a:r>
            <a:br/>
            <a:r>
              <a:t>CONFIDENCE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85800"/>
            <a:ext cx="630936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200" b="1">
                <a:solidFill>
                  <a:srgbClr val="14A6A0"/>
                </a:solidFill>
                <a:latin typeface="Aptos"/>
              </a:defRPr>
            </a:pPr>
            <a:r>
              <a:t>SDG 04  /  EDUCATION FOR 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325880"/>
            <a:ext cx="6583680" cy="1554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ptos"/>
              </a:defRPr>
            </a:pPr>
            <a:r>
              <a:t>SMART LEARNING</a:t>
            </a:r>
            <a:br/>
            <a:r>
              <a:t>SUPPORT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154680"/>
            <a:ext cx="6035040" cy="9144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2100" b="0">
                <a:solidFill>
                  <a:srgbClr val="CFDCF5"/>
                </a:solidFill>
                <a:latin typeface="Aptos"/>
              </a:defRPr>
            </a:pPr>
            <a:r>
              <a:t>An Accessible Digital Learning Platform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868680" cy="64008"/>
          </a:xfrm>
          <a:prstGeom prst="rect">
            <a:avLst/>
          </a:prstGeom>
          <a:solidFill>
            <a:srgbClr val="FFBE4D"/>
          </a:solidFill>
          <a:ln>
            <a:solidFill>
              <a:srgbClr val="FFBE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612648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ptos"/>
              </a:defRPr>
            </a:pPr>
            <a:r>
              <a:t>QUALITY EDUCATION  •  PROJECT PRESENTATION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989320"/>
            <a:ext cx="612648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000" b="0">
                <a:solidFill>
                  <a:srgbClr val="B9C7E0"/>
                </a:solidFill>
                <a:latin typeface="Aptos"/>
              </a:defRPr>
            </a:pPr>
            <a:r>
              <a:t>Name: ____________     Department: ____________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78992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000" b="1">
                <a:solidFill>
                  <a:srgbClr val="14A6A0"/>
                </a:solidFill>
                <a:latin typeface="Aptos"/>
              </a:defRPr>
            </a:pPr>
            <a:r>
              <a:t>01 /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03504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2700" b="1">
                <a:solidFill>
                  <a:srgbClr val="122245"/>
                </a:solidFill>
                <a:latin typeface="Aptos"/>
              </a:defRPr>
            </a:pPr>
            <a:r>
              <a:t>Learning should be clear, flexible and accessible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61288"/>
            <a:ext cx="1078992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200" b="0">
                <a:solidFill>
                  <a:srgbClr val="66748C"/>
                </a:solidFill>
                <a:latin typeface="Aptos"/>
              </a:defRPr>
            </a:pPr>
            <a:r>
              <a:t>A simple digital platform to support everyday revision.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609344"/>
            <a:ext cx="658368" cy="50292"/>
          </a:xfrm>
          <a:prstGeom prst="rect">
            <a:avLst/>
          </a:prstGeom>
          <a:solidFill>
            <a:srgbClr val="14A6A0"/>
          </a:solidFill>
          <a:ln>
            <a:solidFill>
              <a:srgbClr val="14A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defRPr sz="900" b="1">
                <a:solidFill>
                  <a:srgbClr val="66748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6596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965960"/>
            <a:ext cx="73152" cy="1828800"/>
          </a:xfrm>
          <a:prstGeom prst="rect">
            <a:avLst/>
          </a:prstGeom>
          <a:solidFill>
            <a:srgbClr val="14A6A0"/>
          </a:solidFill>
          <a:ln>
            <a:solidFill>
              <a:srgbClr val="14A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130552"/>
            <a:ext cx="306324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600" b="1">
                <a:solidFill>
                  <a:srgbClr val="122245"/>
                </a:solidFill>
                <a:latin typeface="Aptos"/>
              </a:defRPr>
            </a:pPr>
            <a:r>
              <a:t>LEARN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542032"/>
            <a:ext cx="3063240" cy="112471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500" b="0">
                <a:solidFill>
                  <a:srgbClr val="263145"/>
                </a:solidFill>
                <a:latin typeface="Aptos"/>
              </a:defRPr>
            </a:pPr>
            <a:r>
              <a:t>Find subject-wise notes and revision resources in one place.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96596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965960"/>
            <a:ext cx="73152" cy="1828800"/>
          </a:xfrm>
          <a:prstGeom prst="rect">
            <a:avLst/>
          </a:prstGeom>
          <a:solidFill>
            <a:srgbClr val="2C66C4"/>
          </a:solidFill>
          <a:ln>
            <a:solidFill>
              <a:srgbClr val="2C6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2130552"/>
            <a:ext cx="306324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600" b="1">
                <a:solidFill>
                  <a:srgbClr val="122245"/>
                </a:solidFill>
                <a:latin typeface="Aptos"/>
              </a:defRPr>
            </a:pPr>
            <a:r>
              <a:t>PRACTISE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542032"/>
            <a:ext cx="3063240" cy="112471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500" b="0">
                <a:solidFill>
                  <a:srgbClr val="263145"/>
                </a:solidFill>
                <a:latin typeface="Aptos"/>
              </a:defRPr>
            </a:pPr>
            <a:r>
              <a:t>Answer short quizzes and receive immediate feedback.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96596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965960"/>
            <a:ext cx="73152" cy="1828800"/>
          </a:xfrm>
          <a:prstGeom prst="rect">
            <a:avLst/>
          </a:prstGeom>
          <a:solidFill>
            <a:srgbClr val="FFBE4D"/>
          </a:solidFill>
          <a:ln>
            <a:solidFill>
              <a:srgbClr val="FFBE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8" y="2130552"/>
            <a:ext cx="306324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600" b="1">
                <a:solidFill>
                  <a:srgbClr val="122245"/>
                </a:solidFill>
                <a:latin typeface="Aptos"/>
              </a:defRPr>
            </a:pPr>
            <a:r>
              <a:t>TRACK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2542032"/>
            <a:ext cx="3063240" cy="112471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500" b="0">
                <a:solidFill>
                  <a:srgbClr val="263145"/>
                </a:solidFill>
                <a:latin typeface="Aptos"/>
              </a:defRPr>
            </a:pPr>
            <a:r>
              <a:t>View completed topics and progress over time.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4343400"/>
            <a:ext cx="9966960" cy="1143000"/>
          </a:xfrm>
          <a:prstGeom prst="roundRect">
            <a:avLst/>
          </a:prstGeom>
          <a:solidFill>
            <a:srgbClr val="122245"/>
          </a:solidFill>
          <a:ln>
            <a:solidFill>
              <a:srgbClr val="1222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17320" y="4590288"/>
            <a:ext cx="9326880" cy="5943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Goal: make revision more organised and help students practise at their own pace.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22245"/>
          </a:solidFill>
          <a:ln>
            <a:solidFill>
              <a:srgbClr val="1222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6437376"/>
            <a:ext cx="777240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800" b="0">
                <a:solidFill>
                  <a:srgbClr val="66748C"/>
                </a:solidFill>
                <a:latin typeface="Aptos"/>
              </a:defRPr>
            </a:pPr>
            <a:r>
              <a:t>QUALITY EDUCATION  •  PROJECT PRESENTATION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78992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000" b="1">
                <a:solidFill>
                  <a:srgbClr val="14A6A0"/>
                </a:solidFill>
                <a:latin typeface="Aptos"/>
              </a:defRPr>
            </a:pPr>
            <a:r>
              <a:t>02 / 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03504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2700" b="1">
                <a:solidFill>
                  <a:srgbClr val="122245"/>
                </a:solidFill>
                <a:latin typeface="Aptos"/>
              </a:defRPr>
            </a:pPr>
            <a:r>
              <a:t>What learning barriers can students face?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61288"/>
            <a:ext cx="1078992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200" b="0">
                <a:solidFill>
                  <a:srgbClr val="66748C"/>
                </a:solidFill>
                <a:latin typeface="Aptos"/>
              </a:defRPr>
            </a:pPr>
            <a:r>
              <a:t>The project focuses on common revision and access challenges.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609344"/>
            <a:ext cx="658368" cy="50292"/>
          </a:xfrm>
          <a:prstGeom prst="rect">
            <a:avLst/>
          </a:prstGeom>
          <a:solidFill>
            <a:srgbClr val="14A6A0"/>
          </a:solidFill>
          <a:ln>
            <a:solidFill>
              <a:srgbClr val="14A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defRPr sz="900" b="1">
                <a:solidFill>
                  <a:srgbClr val="66748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34290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EE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920240"/>
            <a:ext cx="73152" cy="2331720"/>
          </a:xfrm>
          <a:prstGeom prst="rect">
            <a:avLst/>
          </a:prstGeom>
          <a:solidFill>
            <a:srgbClr val="2C66C4"/>
          </a:solidFill>
          <a:ln>
            <a:solidFill>
              <a:srgbClr val="2C6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84832"/>
            <a:ext cx="306324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600" b="1">
                <a:solidFill>
                  <a:srgbClr val="122245"/>
                </a:solidFill>
                <a:latin typeface="Aptos"/>
              </a:defRPr>
            </a:pPr>
            <a:r>
              <a:t>SCATTERED RESOURCES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96312"/>
            <a:ext cx="3063240" cy="1627631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500" b="0">
                <a:solidFill>
                  <a:srgbClr val="263145"/>
                </a:solidFill>
                <a:latin typeface="Aptos"/>
              </a:defRPr>
            </a:pPr>
            <a:r>
              <a:t>Notes and practice questions may be spread across different sources.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920240"/>
            <a:ext cx="34290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EE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920240"/>
            <a:ext cx="73152" cy="2331720"/>
          </a:xfrm>
          <a:prstGeom prst="rect">
            <a:avLst/>
          </a:prstGeom>
          <a:solidFill>
            <a:srgbClr val="14A6A0"/>
          </a:solidFill>
          <a:ln>
            <a:solidFill>
              <a:srgbClr val="14A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2084832"/>
            <a:ext cx="306324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600" b="1">
                <a:solidFill>
                  <a:srgbClr val="122245"/>
                </a:solidFill>
                <a:latin typeface="Aptos"/>
              </a:defRPr>
            </a:pPr>
            <a:r>
              <a:t>DIFFERENT LEARNING PACE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496312"/>
            <a:ext cx="3063240" cy="1627631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500" b="0">
                <a:solidFill>
                  <a:srgbClr val="263145"/>
                </a:solidFill>
                <a:latin typeface="Aptos"/>
              </a:defRPr>
            </a:pPr>
            <a:r>
              <a:t>Some students need more time, repetition or extra examples.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920240"/>
            <a:ext cx="34290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EE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920240"/>
            <a:ext cx="73152" cy="2331720"/>
          </a:xfrm>
          <a:prstGeom prst="rect">
            <a:avLst/>
          </a:prstGeom>
          <a:solidFill>
            <a:srgbClr val="FFBE4D"/>
          </a:solidFill>
          <a:ln>
            <a:solidFill>
              <a:srgbClr val="FFBE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2084832"/>
            <a:ext cx="306324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600" b="1">
                <a:solidFill>
                  <a:srgbClr val="122245"/>
                </a:solidFill>
                <a:latin typeface="Aptos"/>
              </a:defRPr>
            </a:pPr>
            <a:r>
              <a:t>LIMITED PRACTICE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496312"/>
            <a:ext cx="3063240" cy="1627631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500" b="0">
                <a:solidFill>
                  <a:srgbClr val="263145"/>
                </a:solidFill>
                <a:latin typeface="Aptos"/>
              </a:defRPr>
            </a:pPr>
            <a:r>
              <a:t>Without regular practice, it can be difficult to check understanding.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800600"/>
            <a:ext cx="10058400" cy="5943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1900" b="1">
                <a:solidFill>
                  <a:srgbClr val="122245"/>
                </a:solidFill>
                <a:latin typeface="Aptos"/>
              </a:defRPr>
            </a:pPr>
            <a:r>
              <a:t>Opportunity: bring learning materials and practice into one simple place.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22245"/>
          </a:solidFill>
          <a:ln>
            <a:solidFill>
              <a:srgbClr val="1222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6437376"/>
            <a:ext cx="777240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800" b="0">
                <a:solidFill>
                  <a:srgbClr val="66748C"/>
                </a:solidFill>
                <a:latin typeface="Aptos"/>
              </a:defRPr>
            </a:pPr>
            <a:r>
              <a:t>QUALITY EDUCATION  •  PROJECT PRESENTATION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78992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000" b="1">
                <a:solidFill>
                  <a:srgbClr val="14A6A0"/>
                </a:solidFill>
                <a:latin typeface="Aptos"/>
              </a:defRPr>
            </a:pPr>
            <a:r>
              <a:t>03 / PROJECT DIRECTION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03504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2700" b="1">
                <a:solidFill>
                  <a:srgbClr val="122245"/>
                </a:solidFill>
                <a:latin typeface="Aptos"/>
              </a:defRPr>
            </a:pPr>
            <a:r>
              <a:t>Aim &amp;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61288"/>
            <a:ext cx="1078992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200" b="0">
                <a:solidFill>
                  <a:srgbClr val="66748C"/>
                </a:solidFill>
                <a:latin typeface="Aptos"/>
              </a:defRPr>
            </a:pPr>
            <a:r>
              <a:t>A focused prototype that is realistic for an academic project.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609344"/>
            <a:ext cx="658368" cy="50292"/>
          </a:xfrm>
          <a:prstGeom prst="rect">
            <a:avLst/>
          </a:prstGeom>
          <a:solidFill>
            <a:srgbClr val="14A6A0"/>
          </a:solidFill>
          <a:ln>
            <a:solidFill>
              <a:srgbClr val="14A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defRPr sz="900" b="1">
                <a:solidFill>
                  <a:srgbClr val="66748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3657600" cy="3520440"/>
          </a:xfrm>
          <a:prstGeom prst="roundRect">
            <a:avLst/>
          </a:prstGeom>
          <a:solidFill>
            <a:srgbClr val="122245"/>
          </a:solidFill>
          <a:ln>
            <a:solidFill>
              <a:srgbClr val="1222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194560"/>
            <a:ext cx="301752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300" b="1">
                <a:solidFill>
                  <a:srgbClr val="FFBE4D"/>
                </a:solidFill>
                <a:latin typeface="Aptos"/>
              </a:defRPr>
            </a:pPr>
            <a:r>
              <a:t>PROJECT AIM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97480"/>
            <a:ext cx="2971800" cy="21488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ptos"/>
              </a:defRPr>
            </a:pPr>
            <a:r>
              <a:t>Build a student-friendly platform for notes, quizzes and progress tracking.</a:t>
            </a:r>
          </a:p>
        </p:txBody>
      </p:sp>
      <p:sp>
        <p:nvSpPr>
          <p:cNvPr id="11" name="Oval 10"/>
          <p:cNvSpPr/>
          <p:nvPr/>
        </p:nvSpPr>
        <p:spPr>
          <a:xfrm>
            <a:off x="4892040" y="1920240"/>
            <a:ext cx="438912" cy="438912"/>
          </a:xfrm>
          <a:prstGeom prst="ellipse">
            <a:avLst/>
          </a:prstGeom>
          <a:solidFill>
            <a:srgbClr val="14A6A0"/>
          </a:solidFill>
          <a:ln>
            <a:solidFill>
              <a:srgbClr val="14A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1984248"/>
            <a:ext cx="438912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32120" y="1911096"/>
            <a:ext cx="5212080" cy="5303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800" b="0">
                <a:solidFill>
                  <a:srgbClr val="263145"/>
                </a:solidFill>
                <a:latin typeface="Aptos"/>
              </a:defRPr>
            </a:pPr>
            <a:r>
              <a:t>Organise subject-wise study notes.</a:t>
            </a:r>
          </a:p>
        </p:txBody>
      </p:sp>
      <p:sp>
        <p:nvSpPr>
          <p:cNvPr id="14" name="Oval 13"/>
          <p:cNvSpPr/>
          <p:nvPr/>
        </p:nvSpPr>
        <p:spPr>
          <a:xfrm>
            <a:off x="4892040" y="2743200"/>
            <a:ext cx="438912" cy="438912"/>
          </a:xfrm>
          <a:prstGeom prst="ellipse">
            <a:avLst/>
          </a:prstGeom>
          <a:solidFill>
            <a:srgbClr val="2C66C4"/>
          </a:solidFill>
          <a:ln>
            <a:solidFill>
              <a:srgbClr val="2C6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2040" y="2807208"/>
            <a:ext cx="438912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2734056"/>
            <a:ext cx="5212080" cy="5303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800" b="0">
                <a:solidFill>
                  <a:srgbClr val="263145"/>
                </a:solidFill>
                <a:latin typeface="Aptos"/>
              </a:defRPr>
            </a:pPr>
            <a:r>
              <a:t>Offer short quizzes with feedback.</a:t>
            </a:r>
          </a:p>
        </p:txBody>
      </p:sp>
      <p:sp>
        <p:nvSpPr>
          <p:cNvPr id="17" name="Oval 16"/>
          <p:cNvSpPr/>
          <p:nvPr/>
        </p:nvSpPr>
        <p:spPr>
          <a:xfrm>
            <a:off x="4892040" y="3566160"/>
            <a:ext cx="438912" cy="438912"/>
          </a:xfrm>
          <a:prstGeom prst="ellipse">
            <a:avLst/>
          </a:prstGeom>
          <a:solidFill>
            <a:srgbClr val="14A6A0"/>
          </a:solidFill>
          <a:ln>
            <a:solidFill>
              <a:srgbClr val="14A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92040" y="3630168"/>
            <a:ext cx="438912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32120" y="3557016"/>
            <a:ext cx="5212080" cy="5303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800" b="0">
                <a:solidFill>
                  <a:srgbClr val="263145"/>
                </a:solidFill>
                <a:latin typeface="Aptos"/>
              </a:defRPr>
            </a:pPr>
            <a:r>
              <a:t>Track attempts and topic progress.</a:t>
            </a:r>
          </a:p>
        </p:txBody>
      </p:sp>
      <p:sp>
        <p:nvSpPr>
          <p:cNvPr id="20" name="Oval 19"/>
          <p:cNvSpPr/>
          <p:nvPr/>
        </p:nvSpPr>
        <p:spPr>
          <a:xfrm>
            <a:off x="4892040" y="4389120"/>
            <a:ext cx="438912" cy="438912"/>
          </a:xfrm>
          <a:prstGeom prst="ellipse">
            <a:avLst/>
          </a:prstGeom>
          <a:solidFill>
            <a:srgbClr val="2C66C4"/>
          </a:solidFill>
          <a:ln>
            <a:solidFill>
              <a:srgbClr val="2C6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92040" y="4453128"/>
            <a:ext cx="438912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32120" y="4379976"/>
            <a:ext cx="5212080" cy="5303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800" b="0">
                <a:solidFill>
                  <a:srgbClr val="263145"/>
                </a:solidFill>
                <a:latin typeface="Aptos"/>
              </a:defRPr>
            </a:pPr>
            <a:r>
              <a:t>Design for mobile access and readability.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22245"/>
          </a:solidFill>
          <a:ln>
            <a:solidFill>
              <a:srgbClr val="1222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6437376"/>
            <a:ext cx="777240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800" b="0">
                <a:solidFill>
                  <a:srgbClr val="66748C"/>
                </a:solidFill>
                <a:latin typeface="Aptos"/>
              </a:defRPr>
            </a:pPr>
            <a:r>
              <a:t>QUALITY EDUCATION  •  PROJECT PRESENTATION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78992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000" b="1">
                <a:solidFill>
                  <a:srgbClr val="14A6A0"/>
                </a:solidFill>
                <a:latin typeface="Aptos"/>
              </a:defRPr>
            </a:pPr>
            <a:r>
              <a:t>04 /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03504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2700" b="1">
                <a:solidFill>
                  <a:srgbClr val="122245"/>
                </a:solidFill>
                <a:latin typeface="Aptos"/>
              </a:defRPr>
            </a:pPr>
            <a:r>
              <a:t>Three useful features, one learning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61288"/>
            <a:ext cx="1078992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200" b="0">
                <a:solidFill>
                  <a:srgbClr val="66748C"/>
                </a:solidFill>
                <a:latin typeface="Aptos"/>
              </a:defRPr>
            </a:pPr>
            <a:r>
              <a:t>Keep the experience simple and student-focused.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609344"/>
            <a:ext cx="658368" cy="50292"/>
          </a:xfrm>
          <a:prstGeom prst="rect">
            <a:avLst/>
          </a:prstGeom>
          <a:solidFill>
            <a:srgbClr val="14A6A0"/>
          </a:solidFill>
          <a:ln>
            <a:solidFill>
              <a:srgbClr val="14A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defRPr sz="900" b="1">
                <a:solidFill>
                  <a:srgbClr val="66748C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965960"/>
            <a:ext cx="333756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EE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8992" y="2240280"/>
            <a:ext cx="658368" cy="658368"/>
          </a:xfrm>
          <a:prstGeom prst="ellipse">
            <a:avLst/>
          </a:prstGeom>
          <a:solidFill>
            <a:srgbClr val="14A6A0"/>
          </a:solidFill>
          <a:ln>
            <a:solidFill>
              <a:srgbClr val="14A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395728"/>
            <a:ext cx="658368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3154680"/>
            <a:ext cx="2788920" cy="411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700" b="1">
                <a:solidFill>
                  <a:srgbClr val="122245"/>
                </a:solidFill>
                <a:latin typeface="Aptos"/>
              </a:defRPr>
            </a:pPr>
            <a:r>
              <a:t>STUDY LIBRARY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3703320"/>
            <a:ext cx="2788920" cy="8686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500" b="0">
                <a:solidFill>
                  <a:srgbClr val="263145"/>
                </a:solidFill>
                <a:latin typeface="Aptos"/>
              </a:defRPr>
            </a:pPr>
            <a:r>
              <a:t>Subject-wise notes, summaries and revision material.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17720" y="1965960"/>
            <a:ext cx="333756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EE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873752" y="2240280"/>
            <a:ext cx="658368" cy="658368"/>
          </a:xfrm>
          <a:prstGeom prst="ellipse">
            <a:avLst/>
          </a:prstGeom>
          <a:solidFill>
            <a:srgbClr val="2C66C4"/>
          </a:solidFill>
          <a:ln>
            <a:solidFill>
              <a:srgbClr val="2C6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73752" y="2395728"/>
            <a:ext cx="658368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73752" y="3154680"/>
            <a:ext cx="2788920" cy="411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700" b="1">
                <a:solidFill>
                  <a:srgbClr val="122245"/>
                </a:solidFill>
                <a:latin typeface="Aptos"/>
              </a:defRPr>
            </a:pPr>
            <a:r>
              <a:t>QUICK QUIZZES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73752" y="3703320"/>
            <a:ext cx="2788920" cy="8686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500" b="0">
                <a:solidFill>
                  <a:srgbClr val="263145"/>
                </a:solidFill>
                <a:latin typeface="Aptos"/>
              </a:defRPr>
            </a:pPr>
            <a:r>
              <a:t>Short questions with scores and instant feedback.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0" y="1965960"/>
            <a:ext cx="333756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EE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68512" y="2240280"/>
            <a:ext cx="658368" cy="658368"/>
          </a:xfrm>
          <a:prstGeom prst="ellipse">
            <a:avLst/>
          </a:prstGeom>
          <a:solidFill>
            <a:srgbClr val="FFBE4D"/>
          </a:solidFill>
          <a:ln>
            <a:solidFill>
              <a:srgbClr val="FFBE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68512" y="2395728"/>
            <a:ext cx="658368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68512" y="3154680"/>
            <a:ext cx="2788920" cy="411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700" b="1">
                <a:solidFill>
                  <a:srgbClr val="122245"/>
                </a:solidFill>
                <a:latin typeface="Aptos"/>
              </a:defRPr>
            </a:pPr>
            <a:r>
              <a:t>PROGRESS 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68512" y="3703320"/>
            <a:ext cx="2788920" cy="8686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500" b="0">
                <a:solidFill>
                  <a:srgbClr val="263145"/>
                </a:solidFill>
                <a:latin typeface="Aptos"/>
              </a:defRPr>
            </a:pPr>
            <a:r>
              <a:t>A simple view of attempted quizzes and completed topics.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22245"/>
          </a:solidFill>
          <a:ln>
            <a:solidFill>
              <a:srgbClr val="1222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6437376"/>
            <a:ext cx="777240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800" b="0">
                <a:solidFill>
                  <a:srgbClr val="66748C"/>
                </a:solidFill>
                <a:latin typeface="Aptos"/>
              </a:defRPr>
            </a:pPr>
            <a:r>
              <a:t>QUALITY EDUCATION  •  PROJECT PRESENTATION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78992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000" b="1">
                <a:solidFill>
                  <a:srgbClr val="14A6A0"/>
                </a:solidFill>
                <a:latin typeface="Aptos"/>
              </a:defRPr>
            </a:pPr>
            <a:r>
              <a:t>05 /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03504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2700" b="1">
                <a:solidFill>
                  <a:srgbClr val="122245"/>
                </a:solidFill>
                <a:latin typeface="Aptos"/>
              </a:defRPr>
            </a:pPr>
            <a:r>
              <a:t>How the prototype will be developed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61288"/>
            <a:ext cx="1078992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200" b="0">
                <a:solidFill>
                  <a:srgbClr val="66748C"/>
                </a:solidFill>
                <a:latin typeface="Aptos"/>
              </a:defRPr>
            </a:pPr>
            <a:r>
              <a:t>A clear step-by-step workflow.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609344"/>
            <a:ext cx="658368" cy="50292"/>
          </a:xfrm>
          <a:prstGeom prst="rect">
            <a:avLst/>
          </a:prstGeom>
          <a:solidFill>
            <a:srgbClr val="14A6A0"/>
          </a:solidFill>
          <a:ln>
            <a:solidFill>
              <a:srgbClr val="14A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defRPr sz="900" b="1">
                <a:solidFill>
                  <a:srgbClr val="66748C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965960"/>
            <a:ext cx="32461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1560" y="2176272"/>
            <a:ext cx="566928" cy="566928"/>
          </a:xfrm>
          <a:prstGeom prst="ellipse">
            <a:avLst/>
          </a:prstGeom>
          <a:solidFill>
            <a:srgbClr val="14A6A0"/>
          </a:solidFill>
          <a:ln>
            <a:solidFill>
              <a:srgbClr val="14A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322576"/>
            <a:ext cx="566928" cy="2011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2194560"/>
            <a:ext cx="2103120" cy="56692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600" b="1">
                <a:solidFill>
                  <a:srgbClr val="122245"/>
                </a:solidFill>
                <a:latin typeface="Aptos"/>
              </a:defRPr>
            </a:pPr>
            <a:r>
              <a:t>Understand needs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1965960"/>
            <a:ext cx="32461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46320" y="2176272"/>
            <a:ext cx="566928" cy="566928"/>
          </a:xfrm>
          <a:prstGeom prst="ellipse">
            <a:avLst/>
          </a:prstGeom>
          <a:solidFill>
            <a:srgbClr val="2C66C4"/>
          </a:solidFill>
          <a:ln>
            <a:solidFill>
              <a:srgbClr val="2C6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2322576"/>
            <a:ext cx="566928" cy="2011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2194560"/>
            <a:ext cx="2103120" cy="56692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600" b="1">
                <a:solidFill>
                  <a:srgbClr val="122245"/>
                </a:solidFill>
                <a:latin typeface="Aptos"/>
              </a:defRPr>
            </a:pPr>
            <a:r>
              <a:t>Prepare content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58200" y="1965960"/>
            <a:ext cx="32461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41080" y="2176272"/>
            <a:ext cx="566928" cy="566928"/>
          </a:xfrm>
          <a:prstGeom prst="ellipse">
            <a:avLst/>
          </a:prstGeom>
          <a:solidFill>
            <a:srgbClr val="FFBE4D"/>
          </a:solidFill>
          <a:ln>
            <a:solidFill>
              <a:srgbClr val="FFBE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41080" y="2322576"/>
            <a:ext cx="566928" cy="2011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2194560"/>
            <a:ext cx="2103120" cy="56692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600" b="1">
                <a:solidFill>
                  <a:srgbClr val="122245"/>
                </a:solidFill>
                <a:latin typeface="Aptos"/>
              </a:defRPr>
            </a:pPr>
            <a:r>
              <a:t>Design interface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3566160"/>
            <a:ext cx="32461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51560" y="3776472"/>
            <a:ext cx="566928" cy="566928"/>
          </a:xfrm>
          <a:prstGeom prst="ellipse">
            <a:avLst/>
          </a:prstGeom>
          <a:solidFill>
            <a:srgbClr val="14A6A0"/>
          </a:solidFill>
          <a:ln>
            <a:solidFill>
              <a:srgbClr val="14A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3922776"/>
            <a:ext cx="566928" cy="2011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3794760"/>
            <a:ext cx="2103120" cy="56692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600" b="1">
                <a:solidFill>
                  <a:srgbClr val="122245"/>
                </a:solidFill>
                <a:latin typeface="Aptos"/>
              </a:defRPr>
            </a:pPr>
            <a:r>
              <a:t>Build features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63440" y="3566160"/>
            <a:ext cx="32461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846320" y="3776472"/>
            <a:ext cx="566928" cy="566928"/>
          </a:xfrm>
          <a:prstGeom prst="ellipse">
            <a:avLst/>
          </a:prstGeom>
          <a:solidFill>
            <a:srgbClr val="2C66C4"/>
          </a:solidFill>
          <a:ln>
            <a:solidFill>
              <a:srgbClr val="2C6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46320" y="3922776"/>
            <a:ext cx="566928" cy="2011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77840" y="3794760"/>
            <a:ext cx="2103120" cy="56692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600" b="1">
                <a:solidFill>
                  <a:srgbClr val="122245"/>
                </a:solidFill>
                <a:latin typeface="Aptos"/>
              </a:defRPr>
            </a:pPr>
            <a:r>
              <a:t>Test with users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58200" y="3566160"/>
            <a:ext cx="32461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641080" y="3776472"/>
            <a:ext cx="566928" cy="566928"/>
          </a:xfrm>
          <a:prstGeom prst="ellipse">
            <a:avLst/>
          </a:prstGeom>
          <a:solidFill>
            <a:srgbClr val="FFBE4D"/>
          </a:solidFill>
          <a:ln>
            <a:solidFill>
              <a:srgbClr val="FFBE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41080" y="3922776"/>
            <a:ext cx="566928" cy="2011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72600" y="3794760"/>
            <a:ext cx="2103120" cy="56692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600" b="1">
                <a:solidFill>
                  <a:srgbClr val="122245"/>
                </a:solidFill>
                <a:latin typeface="Aptos"/>
              </a:defRPr>
            </a:pPr>
            <a:r>
              <a:t>Improve using feedback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22245"/>
          </a:solidFill>
          <a:ln>
            <a:solidFill>
              <a:srgbClr val="1222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6437376"/>
            <a:ext cx="777240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800" b="0">
                <a:solidFill>
                  <a:srgbClr val="66748C"/>
                </a:solidFill>
                <a:latin typeface="Aptos"/>
              </a:defRPr>
            </a:pPr>
            <a:r>
              <a:t>QUALITY EDUCATION  •  PROJECT PRESENTATION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78992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000" b="1">
                <a:solidFill>
                  <a:srgbClr val="14A6A0"/>
                </a:solidFill>
                <a:latin typeface="Aptos"/>
              </a:defRPr>
            </a:pPr>
            <a:r>
              <a:t>06 / LEAN CANVAS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03504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2700" b="1">
                <a:solidFill>
                  <a:srgbClr val="122245"/>
                </a:solidFill>
                <a:latin typeface="Aptos"/>
              </a:defRPr>
            </a:pPr>
            <a:r>
              <a:t>The project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61288"/>
            <a:ext cx="1078992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200" b="0">
                <a:solidFill>
                  <a:srgbClr val="66748C"/>
                </a:solidFill>
                <a:latin typeface="Aptos"/>
              </a:defRPr>
            </a:pPr>
            <a:r>
              <a:t>A concise summary of the idea and how success can be assessed.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609344"/>
            <a:ext cx="658368" cy="50292"/>
          </a:xfrm>
          <a:prstGeom prst="rect">
            <a:avLst/>
          </a:prstGeom>
          <a:solidFill>
            <a:srgbClr val="14A6A0"/>
          </a:solidFill>
          <a:ln>
            <a:solidFill>
              <a:srgbClr val="14A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defRPr sz="900" b="1">
                <a:solidFill>
                  <a:srgbClr val="66748C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429000" cy="1280160"/>
          </a:xfrm>
          <a:prstGeom prst="roundRect">
            <a:avLst/>
          </a:prstGeom>
          <a:solidFill>
            <a:srgbClr val="FFE6E8"/>
          </a:solidFill>
          <a:ln>
            <a:solidFill>
              <a:srgbClr val="FF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29718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200" b="1">
                <a:solidFill>
                  <a:srgbClr val="122245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59152"/>
            <a:ext cx="2971800" cy="56692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400" b="0">
                <a:solidFill>
                  <a:srgbClr val="263145"/>
                </a:solidFill>
                <a:latin typeface="Aptos"/>
              </a:defRPr>
            </a:pPr>
            <a:r>
              <a:t>Scattered resources; need for flexible practice.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28800"/>
            <a:ext cx="3429000" cy="1280160"/>
          </a:xfrm>
          <a:prstGeom prst="roundRect">
            <a:avLst/>
          </a:prstGeom>
          <a:solidFill>
            <a:srgbClr val="DAF8EE"/>
          </a:solidFill>
          <a:ln>
            <a:solidFill>
              <a:srgbClr val="DAF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27448" y="1993392"/>
            <a:ext cx="29718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200" b="1">
                <a:solidFill>
                  <a:srgbClr val="122245"/>
                </a:solidFill>
                <a:latin typeface="Aptos"/>
              </a:defRPr>
            </a:pPr>
            <a:r>
              <a:t>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2359152"/>
            <a:ext cx="2971800" cy="56692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400" b="0">
                <a:solidFill>
                  <a:srgbClr val="263145"/>
                </a:solidFill>
                <a:latin typeface="Aptos"/>
              </a:defRPr>
            </a:pPr>
            <a:r>
              <a:t>Notes, quizzes and progress tracking.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828800"/>
            <a:ext cx="3429000" cy="1280160"/>
          </a:xfrm>
          <a:prstGeom prst="roundRect">
            <a:avLst/>
          </a:prstGeom>
          <a:solidFill>
            <a:srgbClr val="E2E2FF"/>
          </a:solidFill>
          <a:ln>
            <a:solidFill>
              <a:srgbClr val="E2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22208" y="1993392"/>
            <a:ext cx="29718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200" b="1">
                <a:solidFill>
                  <a:srgbClr val="122245"/>
                </a:solidFill>
                <a:latin typeface="Aptos"/>
              </a:defRPr>
            </a:pPr>
            <a:r>
              <a:t>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22208" y="2359152"/>
            <a:ext cx="2971800" cy="56692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400" b="0">
                <a:solidFill>
                  <a:srgbClr val="263145"/>
                </a:solidFill>
                <a:latin typeface="Aptos"/>
              </a:defRPr>
            </a:pPr>
            <a:r>
              <a:t>Convenient, student-friendly revision.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520440"/>
            <a:ext cx="3429000" cy="1280160"/>
          </a:xfrm>
          <a:prstGeom prst="roundRect">
            <a:avLst/>
          </a:prstGeom>
          <a:solidFill>
            <a:srgbClr val="FFF2D2"/>
          </a:solidFill>
          <a:ln>
            <a:solidFill>
              <a:srgbClr val="FFF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3685032"/>
            <a:ext cx="29718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200" b="1">
                <a:solidFill>
                  <a:srgbClr val="122245"/>
                </a:solidFill>
                <a:latin typeface="Aptos"/>
              </a:defRPr>
            </a:pPr>
            <a:r>
              <a:t>USERS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4050791"/>
            <a:ext cx="2971800" cy="56692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400" b="0">
                <a:solidFill>
                  <a:srgbClr val="263145"/>
                </a:solidFill>
                <a:latin typeface="Aptos"/>
              </a:defRPr>
            </a:pPr>
            <a:r>
              <a:t>Students, teachers, tutors and institutions.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26280" y="3520440"/>
            <a:ext cx="3429000" cy="1280160"/>
          </a:xfrm>
          <a:prstGeom prst="roundRect">
            <a:avLst/>
          </a:prstGeom>
          <a:solidFill>
            <a:srgbClr val="DCECFF"/>
          </a:solidFill>
          <a:ln>
            <a:solidFill>
              <a:srgbClr val="DC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27448" y="3685032"/>
            <a:ext cx="29718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200" b="1">
                <a:solidFill>
                  <a:srgbClr val="122245"/>
                </a:solidFill>
                <a:latin typeface="Aptos"/>
              </a:defRPr>
            </a:pPr>
            <a:r>
              <a:t>METRICS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27448" y="4050791"/>
            <a:ext cx="2971800" cy="56692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400" b="0">
                <a:solidFill>
                  <a:srgbClr val="263145"/>
                </a:solidFill>
                <a:latin typeface="Aptos"/>
              </a:defRPr>
            </a:pPr>
            <a:r>
              <a:t>Quiz completion, returning users, feedback.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21040" y="3520440"/>
            <a:ext cx="3429000" cy="1280160"/>
          </a:xfrm>
          <a:prstGeom prst="roundRect">
            <a:avLst/>
          </a:prstGeom>
          <a:solidFill>
            <a:srgbClr val="E6F5EF"/>
          </a:solidFill>
          <a:ln>
            <a:solidFill>
              <a:srgbClr val="E6F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22208" y="3685032"/>
            <a:ext cx="29718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200" b="1">
                <a:solidFill>
                  <a:srgbClr val="122245"/>
                </a:solidFill>
                <a:latin typeface="Aptos"/>
              </a:defRPr>
            </a:pPr>
            <a:r>
              <a:t>CHANNELS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22208" y="4050791"/>
            <a:ext cx="2971800" cy="56692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400" b="0">
                <a:solidFill>
                  <a:srgbClr val="263145"/>
                </a:solidFill>
                <a:latin typeface="Aptos"/>
              </a:defRPr>
            </a:pPr>
            <a:r>
              <a:t>School/college demos and learning communities.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22245"/>
          </a:solidFill>
          <a:ln>
            <a:solidFill>
              <a:srgbClr val="1222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6437376"/>
            <a:ext cx="777240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800" b="0">
                <a:solidFill>
                  <a:srgbClr val="66748C"/>
                </a:solidFill>
                <a:latin typeface="Aptos"/>
              </a:defRPr>
            </a:pPr>
            <a:r>
              <a:t>QUALITY EDUCATION  •  PROJECT PRESENTATION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78992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000" b="1">
                <a:solidFill>
                  <a:srgbClr val="14A6A0"/>
                </a:solidFill>
                <a:latin typeface="Aptos"/>
              </a:defRPr>
            </a:pPr>
            <a:r>
              <a:t>07 /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03504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2700" b="1">
                <a:solidFill>
                  <a:srgbClr val="122245"/>
                </a:solidFill>
                <a:latin typeface="Aptos"/>
              </a:defRPr>
            </a:pPr>
            <a:r>
              <a:t>Tools &amp; expected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61288"/>
            <a:ext cx="1078992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200" b="0">
                <a:solidFill>
                  <a:srgbClr val="66748C"/>
                </a:solidFill>
                <a:latin typeface="Aptos"/>
              </a:defRPr>
            </a:pPr>
            <a:r>
              <a:t>Choose tools that match the available time and skills.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609344"/>
            <a:ext cx="658368" cy="50292"/>
          </a:xfrm>
          <a:prstGeom prst="rect">
            <a:avLst/>
          </a:prstGeom>
          <a:solidFill>
            <a:srgbClr val="14A6A0"/>
          </a:solidFill>
          <a:ln>
            <a:solidFill>
              <a:srgbClr val="14A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defRPr sz="900" b="1">
                <a:solidFill>
                  <a:srgbClr val="66748C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20240"/>
            <a:ext cx="502920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EE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20240"/>
            <a:ext cx="73152" cy="3291840"/>
          </a:xfrm>
          <a:prstGeom prst="rect">
            <a:avLst/>
          </a:prstGeom>
          <a:solidFill>
            <a:srgbClr val="14A6A0"/>
          </a:solidFill>
          <a:ln>
            <a:solidFill>
              <a:srgbClr val="14A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2084832"/>
            <a:ext cx="466344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600" b="1">
                <a:solidFill>
                  <a:srgbClr val="122245"/>
                </a:solidFill>
                <a:latin typeface="Aptos"/>
              </a:defRPr>
            </a:pPr>
            <a:r>
              <a:t>POSSIBLE 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496312"/>
            <a:ext cx="4663440" cy="25877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600" b="0">
                <a:solidFill>
                  <a:srgbClr val="263145"/>
                </a:solidFill>
                <a:latin typeface="Aptos"/>
              </a:defRPr>
            </a:pPr>
            <a:r>
              <a:t>• HTML, CSS and JavaScript</a:t>
            </a:r>
            <a:br/>
            <a:r>
              <a:t>• OR Python with Streamlit</a:t>
            </a:r>
            <a:br/>
            <a:r>
              <a:t>• Simple data storage for notes and quiz results</a:t>
            </a:r>
            <a:br/>
            <a:r>
              <a:t>• Accessibility and mobile-layout checks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920240"/>
            <a:ext cx="502920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EE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920240"/>
            <a:ext cx="73152" cy="3291840"/>
          </a:xfrm>
          <a:prstGeom prst="rect">
            <a:avLst/>
          </a:prstGeom>
          <a:solidFill>
            <a:srgbClr val="2C66C4"/>
          </a:solidFill>
          <a:ln>
            <a:solidFill>
              <a:srgbClr val="2C6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6248" y="2084832"/>
            <a:ext cx="466344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600" b="1">
                <a:solidFill>
                  <a:srgbClr val="122245"/>
                </a:solidFill>
                <a:latin typeface="Aptos"/>
              </a:defRPr>
            </a:pPr>
            <a:r>
              <a:t>EXPECTED OUTCOME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6248" y="2496312"/>
            <a:ext cx="4663440" cy="25877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600" b="0">
                <a:solidFill>
                  <a:srgbClr val="263145"/>
                </a:solidFill>
                <a:latin typeface="Aptos"/>
              </a:defRPr>
            </a:pPr>
            <a:r>
              <a:t>• A working prototype for selected topics</a:t>
            </a:r>
            <a:br/>
            <a:r>
              <a:t>• Notes and quizzes in one place</a:t>
            </a:r>
            <a:br/>
            <a:r>
              <a:t>• Basic progress indicators</a:t>
            </a:r>
            <a:br/>
            <a:r>
              <a:t>• Feedback from a small usability test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22245"/>
          </a:solidFill>
          <a:ln>
            <a:solidFill>
              <a:srgbClr val="1222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6437376"/>
            <a:ext cx="777240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800" b="0">
                <a:solidFill>
                  <a:srgbClr val="66748C"/>
                </a:solidFill>
                <a:latin typeface="Aptos"/>
              </a:defRPr>
            </a:pPr>
            <a:r>
              <a:t>QUALITY EDUCATION  •  PROJECT PRESENTATION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78992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000" b="1">
                <a:solidFill>
                  <a:srgbClr val="14A6A0"/>
                </a:solidFill>
                <a:latin typeface="Aptos"/>
              </a:defRPr>
            </a:pPr>
            <a:r>
              <a:t>08 / IMPACT &amp; RESPONSIBILITY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03504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2700" b="1">
                <a:solidFill>
                  <a:srgbClr val="122245"/>
                </a:solidFill>
                <a:latin typeface="Aptos"/>
              </a:defRPr>
            </a:pPr>
            <a:r>
              <a:t>Useful support—not a replacement for teachers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61288"/>
            <a:ext cx="1078992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200" b="0">
                <a:solidFill>
                  <a:srgbClr val="66748C"/>
                </a:solidFill>
                <a:latin typeface="Aptos"/>
              </a:defRPr>
            </a:pPr>
            <a:r>
              <a:t>The project complements classroom learning.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609344"/>
            <a:ext cx="658368" cy="50292"/>
          </a:xfrm>
          <a:prstGeom prst="rect">
            <a:avLst/>
          </a:prstGeom>
          <a:solidFill>
            <a:srgbClr val="14A6A0"/>
          </a:solidFill>
          <a:ln>
            <a:solidFill>
              <a:srgbClr val="14A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defRPr sz="900" b="1">
                <a:solidFill>
                  <a:srgbClr val="66748C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20240"/>
            <a:ext cx="502920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20240"/>
            <a:ext cx="73152" cy="3017520"/>
          </a:xfrm>
          <a:prstGeom prst="rect">
            <a:avLst/>
          </a:prstGeom>
          <a:solidFill>
            <a:srgbClr val="14A6A0"/>
          </a:solidFill>
          <a:ln>
            <a:solidFill>
              <a:srgbClr val="14A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2084832"/>
            <a:ext cx="466344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600" b="1">
                <a:solidFill>
                  <a:srgbClr val="122245"/>
                </a:solidFill>
                <a:latin typeface="Aptos"/>
              </a:defRPr>
            </a:pPr>
            <a:r>
              <a:t>POTENTIAL IMPACT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496312"/>
            <a:ext cx="4663440" cy="23134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600" b="0">
                <a:solidFill>
                  <a:srgbClr val="263145"/>
                </a:solidFill>
                <a:latin typeface="Aptos"/>
              </a:defRPr>
            </a:pPr>
            <a:r>
              <a:t>• Encourages regular revision</a:t>
            </a:r>
            <a:br/>
            <a:r>
              <a:t>• Supports flexible, self-paced practice</a:t>
            </a:r>
            <a:br/>
            <a:r>
              <a:t>• Helps organise learning materials</a:t>
            </a:r>
            <a:br/>
            <a:r>
              <a:t>• Aligns with SDG 4: Quality Education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920240"/>
            <a:ext cx="502920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920240"/>
            <a:ext cx="73152" cy="3017520"/>
          </a:xfrm>
          <a:prstGeom prst="rect">
            <a:avLst/>
          </a:prstGeom>
          <a:solidFill>
            <a:srgbClr val="FFBE4D"/>
          </a:solidFill>
          <a:ln>
            <a:solidFill>
              <a:srgbClr val="FFBE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6248" y="2084832"/>
            <a:ext cx="466344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600" b="1">
                <a:solidFill>
                  <a:srgbClr val="122245"/>
                </a:solidFill>
                <a:latin typeface="Aptos"/>
              </a:defRPr>
            </a:pPr>
            <a:r>
              <a:t>POINTS TO CONSIDER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6248" y="2496312"/>
            <a:ext cx="4663440" cy="23134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600" b="0">
                <a:solidFill>
                  <a:srgbClr val="263145"/>
                </a:solidFill>
                <a:latin typeface="Aptos"/>
              </a:defRPr>
            </a:pPr>
            <a:r>
              <a:t>• Learning content must be accurate</a:t>
            </a:r>
            <a:br/>
            <a:r>
              <a:t>• Protect student information</a:t>
            </a:r>
            <a:br/>
            <a:r>
              <a:t>• Keep text readable and accessible</a:t>
            </a:r>
            <a:br/>
            <a:r>
              <a:t>• The platform complements teachers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22245"/>
          </a:solidFill>
          <a:ln>
            <a:solidFill>
              <a:srgbClr val="1222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6437376"/>
            <a:ext cx="777240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800" b="0">
                <a:solidFill>
                  <a:srgbClr val="66748C"/>
                </a:solidFill>
                <a:latin typeface="Aptos"/>
              </a:defRPr>
            </a:pPr>
            <a:r>
              <a:t>QUALITY EDUCATION  •  PROJECT PRESENTATION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640080"/>
            <a:ext cx="3931920" cy="3931920"/>
          </a:xfrm>
          <a:prstGeom prst="ellipse">
            <a:avLst/>
          </a:prstGeom>
          <a:solidFill>
            <a:srgbClr val="2C66C4"/>
          </a:solidFill>
          <a:ln>
            <a:solidFill>
              <a:srgbClr val="2C6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92640" y="228600"/>
            <a:ext cx="2377440" cy="2377440"/>
          </a:xfrm>
          <a:prstGeom prst="ellipse">
            <a:avLst/>
          </a:prstGeom>
          <a:solidFill>
            <a:srgbClr val="14A6A0"/>
          </a:solidFill>
          <a:ln>
            <a:solidFill>
              <a:srgbClr val="14A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87000" y="822960"/>
            <a:ext cx="1188720" cy="1188720"/>
          </a:xfrm>
          <a:prstGeom prst="ellipse">
            <a:avLst/>
          </a:prstGeom>
          <a:solidFill>
            <a:srgbClr val="FFBE4D"/>
          </a:solidFill>
          <a:ln>
            <a:solidFill>
              <a:srgbClr val="FFBE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85800"/>
            <a:ext cx="50292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100" b="1">
                <a:solidFill>
                  <a:srgbClr val="FFBE4D"/>
                </a:solidFill>
                <a:latin typeface="Aptos"/>
              </a:defRPr>
            </a:pPr>
            <a:r>
              <a:t>09 / 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6583680" cy="11887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ptos"/>
              </a:defRPr>
            </a:pPr>
            <a:r>
              <a:t>Better learning,</a:t>
            </a:r>
            <a:br/>
            <a:r>
              <a:t>one step at a 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63240"/>
            <a:ext cx="6400800" cy="10972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800" b="0">
                <a:solidFill>
                  <a:srgbClr val="D3E0F7"/>
                </a:solidFill>
                <a:latin typeface="Aptos"/>
              </a:defRPr>
            </a:pPr>
            <a:r>
              <a:t>A simple digital platform can bring notes, quizzes and progress together—helping students revise with more structure and confidence.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572000"/>
            <a:ext cx="822960" cy="64008"/>
          </a:xfrm>
          <a:prstGeom prst="rect">
            <a:avLst/>
          </a:prstGeom>
          <a:solidFill>
            <a:srgbClr val="FFBE4D"/>
          </a:solidFill>
          <a:ln>
            <a:solidFill>
              <a:srgbClr val="FFBE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983480"/>
            <a:ext cx="5943600" cy="5486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600" b="1">
                <a:solidFill>
                  <a:srgbClr val="14A6A0"/>
                </a:solidFill>
                <a:latin typeface="Aptos"/>
              </a:defRPr>
            </a:pPr>
            <a:r>
              <a:t>THANK YOU  •  QUESTIONS?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defRPr sz="900" b="1">
                <a:solidFill>
                  <a:srgbClr val="B9C7E0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